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6" Type="http://schemas.openxmlformats.org/officeDocument/2006/relationships/viewProps" Target="viewProps.xml" /><Relationship Id="rId15" Type="http://schemas.openxmlformats.org/officeDocument/2006/relationships/presProps" Target="presProps.xml" /><Relationship Id="rId1" Type="http://schemas.openxmlformats.org/officeDocument/2006/relationships/slideMaster" Target="slideMasters/slideMaster1.xml" /><Relationship Id="rId18" Type="http://schemas.openxmlformats.org/officeDocument/2006/relationships/tableStyles" Target="tableStyles.xml" /><Relationship Id="rId1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6035/"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5094/"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5405/"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5453/"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6104/"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5999/" TargetMode="Externa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5973/" TargetMode="Externa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5450/" TargetMode="Externa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5372/" TargetMode="Externa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AI Health Lit Review — Top Picks (2026-04-06)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Summary</a:t>
            </a:r>
          </a:p>
        </p:txBody>
      </p:sp>
      <p:sp>
        <p:nvSpPr>
          <p:cNvPr id="3" name="Content Placeholder 2"/>
          <p:cNvSpPr>
            <a:spLocks noGrp="1"/>
          </p:cNvSpPr>
          <p:nvPr>
            <p:ph idx="1"/>
          </p:nvPr>
        </p:nvSpPr>
        <p:spPr/>
        <p:txBody>
          <a:bodyPr/>
          <a:lstStyle/>
          <a:p>
            <a:pPr lvl="0"/>
            <a:r>
              <a:rPr b="1"/>
              <a:t>Plage de dates</a:t>
            </a:r>
            <a:r>
              <a:rPr/>
              <a:t> : 14 derniers jours</a:t>
            </a:r>
          </a:p>
          <a:p>
            <a:pPr lvl="0"/>
            <a:r>
              <a:rPr b="1"/>
              <a:t>Nombre de papiers présentés</a:t>
            </a:r>
            <a:r>
              <a:rPr/>
              <a:t> : 9</a:t>
            </a:r>
          </a:p>
          <a:p>
            <a:pPr lvl="0"/>
            <a:r>
              <a:rPr b="1"/>
              <a:t>Score minimum</a:t>
            </a:r>
            <a:r>
              <a:rPr/>
              <a:t> : 8.0</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Highlights</a:t>
            </a:r>
          </a:p>
        </p:txBody>
      </p:sp>
      <p:sp>
        <p:nvSpPr>
          <p:cNvPr id="3" name="Content Placeholder 2"/>
          <p:cNvSpPr>
            <a:spLocks noGrp="1"/>
          </p:cNvSpPr>
          <p:nvPr>
            <p:ph idx="1"/>
          </p:nvPr>
        </p:nvSpPr>
        <p:spPr/>
        <p:txBody>
          <a:bodyPr/>
          <a:lstStyle/>
          <a:p>
            <a:pPr lvl="0" indent="0" marL="0">
              <a:spcBef>
                <a:spcPts val="3000"/>
              </a:spcBef>
              <a:buNone/>
            </a:pPr>
            <a:r>
              <a:rPr b="1"/>
              <a:t>1. [Simulated consciousness, pseudo-empathy and the illusion of attachment: what can psychiatry do with artificial intelligence?].</a:t>
            </a:r>
          </a:p>
          <a:p>
            <a:pPr lvl="0" indent="0" marL="0">
              <a:buNone/>
            </a:pPr>
            <a:r>
              <a:rPr b="1"/>
              <a:t>Score</a:t>
            </a:r>
            <a:r>
              <a:rPr/>
              <a:t> : 9.0/10  </a:t>
            </a:r>
            <a:r>
              <a:rPr b="1"/>
              <a:t>Venue</a:t>
            </a:r>
            <a:r>
              <a:rPr/>
              <a:t> : Orvosi hetilap</a:t>
            </a:r>
          </a:p>
          <a:p>
            <a:pPr lvl="0" indent="0" marL="0">
              <a:buNone/>
            </a:pPr>
            <a:r>
              <a:rPr b="1"/>
              <a:t>Summarized insight</a:t>
            </a:r>
            <a:r>
              <a:rPr/>
              <a:t> : &gt; This narrative review examines the integration of generative artificial intelligence (AI), particularly large language models (LLMs) and multimodal systems, into psychiatric practice. It addresses the growing mental health burden and service constraints driving this adoption. The paper explains how these models function and their core failures (hallucinations, goal drift, model drift). It appraises evidence for AI in diagnosis (via digital phenotyping, clinical text, speech, wearables) and therapy (protocol-based and generative chatbots), highlighting short-term findings and limitations. A central concern is “simulated consciousness” and the “illusion of attachment,” where patients may overattribute competence, develop dependency, face manipulation, or encounter unpredictability during crises, undermining safety. The authors conclude that while AI can be a valuable tool, its diagnostic or therapeutic use requires strict validation, continuous monitoring, robust privacy/bias safeguards, auditability, and clear human accountability.</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A deep learning-based multimodal model with automated body composition analysis predicts prognosis in advanced clear cell renal cell carcinoma.</a:t>
            </a:r>
          </a:p>
          <a:p>
            <a:pPr lvl="0" indent="0" marL="0">
              <a:buNone/>
            </a:pPr>
            <a:r>
              <a:rPr b="1"/>
              <a:t>Score</a:t>
            </a:r>
            <a:r>
              <a:rPr/>
              <a:t> : 9.0/10  </a:t>
            </a:r>
            <a:r>
              <a:rPr b="1"/>
              <a:t>Venue</a:t>
            </a:r>
            <a:r>
              <a:rPr/>
              <a:t> : Scientific reports</a:t>
            </a:r>
          </a:p>
          <a:p>
            <a:pPr lvl="0" indent="0" marL="0">
              <a:buNone/>
            </a:pPr>
            <a:r>
              <a:rPr b="1"/>
              <a:t>Summarized insight</a:t>
            </a:r>
            <a:r>
              <a:rPr/>
              <a:t> : &gt; Clear cell renal cell carcinoma (ccRCC) is an aggressive malignancy with a high risk of postoperative recurrence. Body composition has emerged as a prognostic marker, but its clinical use is hindered by manual measurement methods and poorly interpretable models.</a:t>
            </a:r>
          </a:p>
          <a:p>
            <a:pPr lvl="0" indent="0" marL="0">
              <a:buNone/>
            </a:pPr>
            <a:r>
              <a:rPr b="1"/>
              <a:t>Critical note</a:t>
            </a:r>
            <a:r>
              <a:rPr/>
              <a:t> : &gt; Retrospective design may not reflect prospective deployment performance.</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Biochemical biomarker-Driven deep learning framework with SHAP-based feature interpretation for diabetes classification.</a:t>
            </a:r>
          </a:p>
          <a:p>
            <a:pPr lvl="0" indent="0" marL="0">
              <a:buNone/>
            </a:pPr>
            <a:r>
              <a:rPr b="1"/>
              <a:t>Score</a:t>
            </a:r>
            <a:r>
              <a:rPr/>
              <a:t> : 9.0/10  </a:t>
            </a:r>
            <a:r>
              <a:rPr b="1"/>
              <a:t>Venue</a:t>
            </a:r>
            <a:r>
              <a:rPr/>
              <a:t> : Biophysical chemistry</a:t>
            </a:r>
          </a:p>
          <a:p>
            <a:pPr lvl="0" indent="0" marL="0">
              <a:buNone/>
            </a:pPr>
            <a:r>
              <a:rPr b="1"/>
              <a:t>Summarized insight</a:t>
            </a:r>
            <a:r>
              <a:rPr/>
              <a:t> : &gt; This study proposes a deep learning framework combining a Deep Neural Network (DNN) with feature ranking and a statistical algorithm to improve early diabetes classification. Using biochemical biomarkers and socioeconomic factors, the model aims to identify individuals across the clinical spectrum from normal glucose regulation to type 2 diabetes. SHAP (Shapley Additive exPlanations) is integrated to enhance model interpretability by identifying the most influential predictive features. Evaluated via 10-fold cross-validation, the method achieves a high average accuracy of 95.72%, outperforming traditional machine learning models and recent benchmarks. The work underscores the value of advanced analytics for early screening and highlights the impact of broader socioeconomic and lifestyle factors on diabetes prevention and management.</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A CT-based model integrating deep learning features radiomics and body composition for preoperative prediction of microsatellite instability in colorectal cancer: a multicenter study.</a:t>
            </a:r>
          </a:p>
          <a:p>
            <a:pPr lvl="0" indent="0" marL="0">
              <a:buNone/>
            </a:pPr>
            <a:r>
              <a:rPr b="1"/>
              <a:t>Score</a:t>
            </a:r>
            <a:r>
              <a:rPr/>
              <a:t> : 9.0/10  </a:t>
            </a:r>
            <a:r>
              <a:rPr b="1"/>
              <a:t>Venue</a:t>
            </a:r>
            <a:r>
              <a:rPr/>
              <a:t> : European journal of radiology</a:t>
            </a:r>
          </a:p>
          <a:p>
            <a:pPr lvl="0" indent="0" marL="0">
              <a:buNone/>
            </a:pPr>
            <a:r>
              <a:rPr b="1"/>
              <a:t>Summarized insight</a:t>
            </a:r>
            <a:r>
              <a:rPr/>
              <a:t> : &gt; This multicenter retrospective study developed and validated an interpretable deep learning radiomics model to preoperatively predict microsatellite instability (MSI) status in colorectal cancer (CRC) using portal venous phase enhanced CT images. The final fusion model (CDLR), which combined deep learning features, radiomics features, and body composition-based clinical risk factors using a random forest algorithm, demonstrated superior performance compared to models using only deep learning radiomics (DLR) or clinical factors alone. The CDLR model achieved promising AUCs across training and external validation cohorts and showed favorable clinical net benefit in decision curve analysis. The model’s interpretability was enhanced using SHAP and Grad-CAM visualizations.</a:t>
            </a:r>
          </a:p>
          <a:p>
            <a:pPr lvl="0" indent="0" marL="0">
              <a:buNone/>
            </a:pPr>
            <a:r>
              <a:rPr b="1"/>
              <a:t>Critical note</a:t>
            </a:r>
            <a:r>
              <a:rPr/>
              <a:t> : &gt; Retrospective design may not reflect prospective deployment performance.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5. The Progress of Gout Prediction Models Based on Multi-source Data.</a:t>
            </a:r>
          </a:p>
          <a:p>
            <a:pPr lvl="0" indent="0" marL="0">
              <a:buNone/>
            </a:pPr>
            <a:r>
              <a:rPr b="1"/>
              <a:t>Score</a:t>
            </a:r>
            <a:r>
              <a:rPr/>
              <a:t> : 9.0/10  </a:t>
            </a:r>
            <a:r>
              <a:rPr b="1"/>
              <a:t>Venue</a:t>
            </a:r>
            <a:r>
              <a:rPr/>
              <a:t> : Current rheumatology reviews</a:t>
            </a:r>
          </a:p>
          <a:p>
            <a:pPr lvl="0" indent="0" marL="0">
              <a:buNone/>
            </a:pPr>
            <a:r>
              <a:rPr b="1"/>
              <a:t>Summarized insight</a:t>
            </a:r>
            <a:r>
              <a:rPr/>
              <a:t> : &gt; This review synthesizes research on gout prediction models utilizing multi-source data, including clinical features and various omics (genomics, microbiomics, radiomics, metabolomics). It finds that models integrating multiple data sources generally demonstrate superior predictive performance for gout susceptibility and related symptoms. While these models show excellent efficacy, their translation into clinical practice is hindered by challenges in external validation, cost, and practical implementation.</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6. Quantum-inspired fused explainable deep learning framework for early enamel caries classification in intraoral photographs.</a:t>
            </a:r>
          </a:p>
          <a:p>
            <a:pPr lvl="0" indent="0" marL="0">
              <a:buNone/>
            </a:pPr>
            <a:r>
              <a:rPr b="1"/>
              <a:t>Score</a:t>
            </a:r>
            <a:r>
              <a:rPr/>
              <a:t> : 8.0/10  </a:t>
            </a:r>
            <a:r>
              <a:rPr b="1"/>
              <a:t>Venue</a:t>
            </a:r>
            <a:r>
              <a:rPr/>
              <a:t> : Odontology</a:t>
            </a:r>
          </a:p>
          <a:p>
            <a:pPr lvl="0" indent="0" marL="0">
              <a:buNone/>
            </a:pPr>
            <a:r>
              <a:rPr b="1"/>
              <a:t>Summarized insight</a:t>
            </a:r>
            <a:r>
              <a:rPr/>
              <a:t> : &gt; The visual detection of early enamel caries in intraoral photographs is challenging due to subtle lesion appearance and diagnostic subjectivity. This study aimed to develop and validate an explainable, quantum-simulated deep learning framework for the automated classification of enamel caries severity from intraoral photographs.</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7. Predictive neuroimaging biomarkers of major depressive disorder treatment response: An umbrella review.</a:t>
            </a:r>
          </a:p>
          <a:p>
            <a:pPr lvl="0" indent="0" marL="0">
              <a:buNone/>
            </a:pPr>
            <a:r>
              <a:rPr b="1"/>
              <a:t>Score</a:t>
            </a:r>
            <a:r>
              <a:rPr/>
              <a:t> : 8.0/10  </a:t>
            </a:r>
            <a:r>
              <a:rPr b="1"/>
              <a:t>Venue</a:t>
            </a:r>
            <a:r>
              <a:rPr/>
              <a:t> : Psychiatry and clinical neurosciences</a:t>
            </a:r>
          </a:p>
          <a:p>
            <a:pPr lvl="0" indent="0" marL="0">
              <a:buNone/>
            </a:pPr>
            <a:r>
              <a:rPr b="1"/>
              <a:t>Summarized insight</a:t>
            </a:r>
            <a:r>
              <a:rPr/>
              <a:t> : &gt; This umbrella review synthesized evidence from systematic reviews and meta-analyses to identify neuroimaging biomarkers predictive of treatment response in Major Depressive Disorder (MDD). It found that increased volume and activity in the anterior cingulate cortex (ACC) and hippocampus, along with altered functional connectivity in the default mode network (DMN) and fronto-limbic circuits, are the most consistent predictors. Predictive patterns differ by treatment modality (e.g., larger hippocampal volume predicts pharmacotherapy response, while smaller volume predicts better electroconvulsive therapy outcomes). Machine learning models integrating multimodal data show high predictive accuracy (AUC &gt;0.85) but generally lack external validation.</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8. Prediction of Early-onset Preeclampsia Using Deep Learning: A Scoping Review of Clinical and Imaging Models.</a:t>
            </a:r>
          </a:p>
          <a:p>
            <a:pPr lvl="0" indent="0" marL="0">
              <a:buNone/>
            </a:pPr>
            <a:r>
              <a:rPr b="1"/>
              <a:t>Score</a:t>
            </a:r>
            <a:r>
              <a:rPr/>
              <a:t> : 8.0/10  </a:t>
            </a:r>
            <a:r>
              <a:rPr b="1"/>
              <a:t>Venue</a:t>
            </a:r>
            <a:r>
              <a:rPr/>
              <a:t> : Pregnancy hypertension</a:t>
            </a:r>
          </a:p>
          <a:p>
            <a:pPr lvl="0" indent="0" marL="0">
              <a:buNone/>
            </a:pPr>
            <a:r>
              <a:rPr b="1"/>
              <a:t>Summarized insight</a:t>
            </a:r>
            <a:r>
              <a:rPr/>
              <a:t> : &gt; This scoping review aimed to map the available evidence on deep learning (DL) models for predicting early-onset preeclampsia (EOPE), focusing on both clinical and imaging-based approaches. A comprehensive search of five databases identified 15 eligible studies published between 2018 and 2025.</a:t>
            </a:r>
          </a:p>
          <a:p>
            <a:pPr lvl="0" indent="0" marL="0">
              <a:buNone/>
            </a:pPr>
            <a:r>
              <a:rPr b="1"/>
              <a:t>Critical note</a:t>
            </a:r>
            <a:r>
              <a:rPr/>
              <a:t> : &gt; The abstract alone provides limited detail on datasets, baselines, and error analysis.</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9. Focused Ultrasound-activated Extracellular Vesicles-nanoparticle Hybrids for Targeted Brain Drug Delivery: Engineering Strategies and Translational Outlook.</a:t>
            </a:r>
          </a:p>
          <a:p>
            <a:pPr lvl="0" indent="0" marL="0">
              <a:buNone/>
            </a:pPr>
            <a:r>
              <a:rPr b="1"/>
              <a:t>Score</a:t>
            </a:r>
            <a:r>
              <a:rPr/>
              <a:t> : 8.0/10  </a:t>
            </a:r>
            <a:r>
              <a:rPr b="1"/>
              <a:t>Venue</a:t>
            </a:r>
            <a:r>
              <a:rPr/>
              <a:t> : CNS &amp; neurological disorders drug targets</a:t>
            </a:r>
          </a:p>
          <a:p>
            <a:pPr lvl="0" indent="0" marL="0">
              <a:buNone/>
            </a:pPr>
            <a:r>
              <a:rPr b="1"/>
              <a:t>Summarized insight</a:t>
            </a:r>
            <a:r>
              <a:rPr/>
              <a:t> : &gt; A revolutionary method for targeted neurotherapeutics is focused ultrasound (FUS)-mediated blood-brain barrier (BBB) regulation. In order to enable controlled and targeted intracerebral drug delivery, recent developments in hybrid extracellular vessssicle-nanoparticle (EV-NP) platforms combine the biological compatibility of natural vesicles with the adjustable characteristics of synthetic nanocarriers.</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Take‑aways</a:t>
            </a:r>
          </a:p>
        </p:txBody>
      </p:sp>
      <p:sp>
        <p:nvSpPr>
          <p:cNvPr id="3" name="Content Placeholder 2"/>
          <p:cNvSpPr>
            <a:spLocks noGrp="1"/>
          </p:cNvSpPr>
          <p:nvPr>
            <p:ph idx="1"/>
          </p:nvPr>
        </p:nvSpPr>
        <p:spPr/>
        <p:txBody>
          <a:bodyPr/>
          <a:lstStyle/>
          <a:p>
            <a:pPr lvl="0"/>
            <a:r>
              <a:rPr/>
              <a:t>This deck captures the highest‑scoring, clinically adjacent AI papers from the last two weeks.</a:t>
            </a:r>
          </a:p>
          <a:p>
            <a:pPr lvl="0"/>
            <a:r>
              <a:rPr/>
              <a:t>Use it as a quick briefing or a starting point for deeper discussion.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Generated by AI Health Lit Review on 2026-04-06 03:05</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2026-04-06T01:05:21Z</dcterms:created>
  <dcterms:modified xsi:type="dcterms:W3CDTF">2026-04-06T01:05:21Z</dcterms:modified>
</cp:coreProperties>
</file>

<file path=docProps/custom.xml><?xml version="1.0" encoding="utf-8"?>
<Properties xmlns="http://schemas.openxmlformats.org/officeDocument/2006/custom-properties" xmlns:vt="http://schemas.openxmlformats.org/officeDocument/2006/docPropsVTypes"/>
</file>