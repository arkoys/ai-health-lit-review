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188720"/>
            <a:ext cx="3200400" cy="36576"/>
          </a:xfrm>
          <a:prstGeom prst="rect">
            <a:avLst/>
          </a:prstGeom>
          <a:solidFill>
            <a:srgbClr val="14A8A8"/>
          </a:solidFill>
          <a:ln w="12700">
            <a:solidFill>
              <a:srgbClr val="14A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Health Literature Review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A8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Midterm Presentation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Question, Search Strategy &amp; Methodology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Arkoys  ·  2026-04-13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Review Question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46720" y="164592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6459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280160"/>
          </a:xfrm>
          <a:prstGeom prst="rect">
            <a:avLst/>
          </a:prstGeom>
          <a:solidFill>
            <a:srgbClr val="0F2A3F"/>
          </a:solidFill>
          <a:ln w="12700">
            <a:solidFill>
              <a:srgbClr val="0F2A3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987552"/>
            <a:ext cx="81381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methods and frameworks exist for evaluating health AI systems in real-world deployment contexts, and how do governance structures shape their implementation, sustainability, and societal impact?"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question is well-scoped: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743200"/>
            <a:ext cx="73152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797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broad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999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in healthcare" — unmanageable, zero focus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401568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401568"/>
            <a:ext cx="73152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38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narrow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the NHS evaluate AI chatbots?" — too specific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059936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4059936"/>
            <a:ext cx="73152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096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3159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evaluation methods AND governance — inseparable in real-world health AI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331720"/>
            <a:ext cx="3931920" cy="3657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Supervisor Keywords: 5 thematic groups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Search Strategy — 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46720" y="164592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6459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164592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310896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Preprint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cs.AI, cs.LG, cs.CL, cs.CY, q-bio, eess.AS, cs.CV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PubMed / PMC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Biomedical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+ health/clinical/medical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 Proceedings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2020–2024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20/session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/ Other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Conferences, blogs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 health AI &amp; 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27432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Keyword Thematic Groups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" y="320040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" y="324612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8912" y="361188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38912" y="395935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38912" y="430682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38912" y="465429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084832" y="320040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084832" y="324612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157984" y="361188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Participatory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157984" y="395935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803904" y="320040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803904" y="324612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877056" y="361188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877056" y="395935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877056" y="430682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877056" y="465429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522976" y="320040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522976" y="324612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596128" y="361188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596128" y="395935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596128" y="430682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242048" y="320040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242048" y="324612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315200" y="361188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315200" y="395935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315200" y="430682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315200" y="465429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315200" y="500176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943600" y="466344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0F2A3F"/>
          </a:solidFill>
          <a:ln w="12700">
            <a:solidFill>
              <a:srgbClr val="0F2A3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943600" y="46634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 DB: 33 papers (as of 2026-04-13)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Inclusion / Exclusion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46720" y="164592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6459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0233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 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023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25880"/>
            <a:ext cx="54864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258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papers (journals, peer-reviewed conferences)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29384"/>
            <a:ext cx="4023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29384"/>
            <a:ext cx="54864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2938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applied to healthcare (clinical, medical)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32888"/>
            <a:ext cx="4023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32888"/>
            <a:ext cx="54864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3288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evaluation method OR governance framework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36392"/>
            <a:ext cx="4023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136392"/>
            <a:ext cx="54864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3639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2020–2026 (+ seminal works)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39896"/>
            <a:ext cx="4023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739896"/>
            <a:ext cx="54864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3989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English (French acceptable)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343400"/>
            <a:ext cx="4023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343400"/>
            <a:ext cx="54864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3434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access preferred; paywall OK if relevant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868680"/>
            <a:ext cx="402336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 ❌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325880"/>
            <a:ext cx="4023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325880"/>
            <a:ext cx="54864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3258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pieces, editorials, letters to the editor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1929384"/>
            <a:ext cx="4023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1929384"/>
            <a:ext cx="54864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92938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technical ML — no health dimension, no evaluation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532888"/>
            <a:ext cx="4023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532888"/>
            <a:ext cx="54864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53288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outside clinical context (finance, agriculture...)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136392"/>
            <a:ext cx="4023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136392"/>
            <a:ext cx="54864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13639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Pre-2020 (except seminal governance works)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739896"/>
            <a:ext cx="4023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739896"/>
            <a:ext cx="54864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73989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without English abstract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4343400"/>
            <a:ext cx="4023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4343400"/>
            <a:ext cx="54864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43434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abstract available (cannot screen)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4617720"/>
            <a:ext cx="8412480" cy="438912"/>
          </a:xfrm>
          <a:prstGeom prst="rect">
            <a:avLst/>
          </a:prstGeom>
          <a:solidFill>
            <a:srgbClr val="0F2A3F"/>
          </a:solidFill>
          <a:ln w="12700">
            <a:solidFill>
              <a:srgbClr val="0F2A3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6177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 (top): 2+ themes + empirical   ·   Priority 1 (high): 1 theme + empirical   ·   Priority 0 (normal): theoretical only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PRISMA-Style Flow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46720" y="164592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6459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868680"/>
            <a:ext cx="7498080" cy="8412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960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2527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~2,700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83280" y="1069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· PubMed · NeurIPS · Manual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709928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874520"/>
            <a:ext cx="6949440" cy="84124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8016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22585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~300–400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0" y="20756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+ abstract → deduplicated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2715768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2880360"/>
            <a:ext cx="6400800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5448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 READ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32644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~80–100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931920" y="30815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inclusion/exclusion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3721608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0" y="3886200"/>
            <a:ext cx="5852160" cy="841248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82880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42702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~40–50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206240" y="40873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synthesis (target: 30–50)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58000" y="914400"/>
            <a:ext cx="2011680" cy="54864"/>
          </a:xfrm>
          <a:prstGeom prst="rect">
            <a:avLst/>
          </a:prstGeom>
          <a:solidFill>
            <a:srgbClr val="14A8A8"/>
          </a:solidFill>
          <a:ln w="12700">
            <a:solidFill>
              <a:srgbClr val="14A8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1051560"/>
            <a:ext cx="22860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20840" y="1097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20840" y="1463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Identified: ~2,700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20840" y="18470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DB: 33 papers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20840" y="22311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read: ~10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20840" y="26151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synthesis: 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Data Extraction Table (Draft)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46720" y="164592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6459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822960"/>
                <a:gridCol w="1554480"/>
                <a:gridCol w="1645920"/>
                <a:gridCol w="1645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/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Eval.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188720"/>
                <a:gridCol w="1371600"/>
                <a:gridCol w="2011680"/>
                <a:gridCol w="16459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/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Eval.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Finding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 Tian et 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Qualitative case study, 18-month longitudinal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6-module governance framework: institutional carrier, infra, regulatory/ethics, coordination, scaling, lifecycle oversight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capacity develops DURING implementation. "Pilot trap" = governance failure, not technical failure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Schrepel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14-criterion doctrinal coding, 4 dimensions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 architecture, distributed sensing, pluralistic triggers, networked institutional memory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regulation &gt; "future-proof" law. Blueprint for EU digital regulation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Lnenicka et 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European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Multi-country comparative, document analysis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AI-enabled policy actions across 6 policy stages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 setting high; implementation/evaluation low. No country has full lifecycle AI integration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codes:  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371600" y="4315968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371600" y="43159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AI_EVAL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743200" y="4315968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0" y="43159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PARTICIPATORY_GOV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114800" y="4315968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114800" y="43159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ADAPTIVE_REG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486400" y="4315968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0" y="43159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EVIDENCE_IMPL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6858000" y="4315968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858000" y="43159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CLINICAL_HEALTH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7432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more rows (5–10 papers recommended for final presentation)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Key Findings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46720" y="164592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6459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023360" cy="365760"/>
          </a:xfrm>
          <a:prstGeom prst="rect">
            <a:avLst/>
          </a:prstGeom>
          <a:solidFill>
            <a:srgbClr val="0F2A3F"/>
          </a:solidFill>
          <a:ln w="12700">
            <a:solidFill>
              <a:srgbClr val="0F2A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(Emerging Pattern)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64008" cy="74980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3716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develops during implementation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2064" y="16733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pre-existing capacity but emerges through operational tensions — Jin Tian et al.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94560"/>
            <a:ext cx="64008" cy="74980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2402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trap is a governance failure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2064" y="25420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projects fail to sustain because organizational accountability boundaries are unclear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63240"/>
            <a:ext cx="64008" cy="74980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1089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regulation &gt; static "future-proof" law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2064" y="341071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Schrepel: modular architecture + distributed sensing + pluralistic triggers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931920"/>
            <a:ext cx="64008" cy="74980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39776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evaluation = lowest AI integration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2064" y="42793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Lnenicka et al.: all 8 EU countries weak at implementation/evaluation stages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868680"/>
            <a:ext cx="4023360" cy="3657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868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1435608"/>
            <a:ext cx="256032" cy="256032"/>
          </a:xfrm>
          <a:prstGeom prst="ellipse">
            <a:avLst/>
          </a:prstGeom>
          <a:solidFill>
            <a:srgbClr val="14A8A8"/>
          </a:solidFill>
          <a:ln w="12700">
            <a:solidFill>
              <a:srgbClr val="14A8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435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93792" y="137160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DB to 50–80 papers (target: 30–50 in final synthesis)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057400"/>
            <a:ext cx="256032" cy="256032"/>
          </a:xfrm>
          <a:prstGeom prst="ellipse">
            <a:avLst/>
          </a:prstGeom>
          <a:solidFill>
            <a:srgbClr val="14A8A8"/>
          </a:solidFill>
          <a:ln w="12700">
            <a:solidFill>
              <a:srgbClr val="14A8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93792" y="1993392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data extraction table: populate 5–10 rows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679192"/>
            <a:ext cx="256032" cy="256032"/>
          </a:xfrm>
          <a:prstGeom prst="ellipse">
            <a:avLst/>
          </a:prstGeom>
          <a:solidFill>
            <a:srgbClr val="14A8A8"/>
          </a:solidFill>
          <a:ln w="12700">
            <a:solidFill>
              <a:srgbClr val="14A8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679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93792" y="2615184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PRISMA: formal flow with exact counts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300984"/>
            <a:ext cx="256032" cy="256032"/>
          </a:xfrm>
          <a:prstGeom prst="ellipse">
            <a:avLst/>
          </a:prstGeom>
          <a:solidFill>
            <a:srgbClr val="14A8A8"/>
          </a:solidFill>
          <a:ln w="12700">
            <a:solidFill>
              <a:srgbClr val="14A8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300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93792" y="3236976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cross-theme papers (intersection G1+G2, G3+G4...)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922776"/>
            <a:ext cx="256032" cy="256032"/>
          </a:xfrm>
          <a:prstGeom prst="ellipse">
            <a:avLst/>
          </a:prstGeom>
          <a:solidFill>
            <a:srgbClr val="14A8A8"/>
          </a:solidFill>
          <a:ln w="12700">
            <a:solidFill>
              <a:srgbClr val="14A8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922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93792" y="3858768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synthesis narrative: identify recurring patterns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544568"/>
            <a:ext cx="256032" cy="256032"/>
          </a:xfrm>
          <a:prstGeom prst="ellipse">
            <a:avLst/>
          </a:prstGeom>
          <a:solidFill>
            <a:srgbClr val="14A8A8"/>
          </a:solidFill>
          <a:ln w="12700">
            <a:solidFill>
              <a:srgbClr val="14A8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544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93792" y="448056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final literature review document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2011680"/>
            <a:ext cx="3200400" cy="36576"/>
          </a:xfrm>
          <a:prstGeom prst="rect">
            <a:avLst/>
          </a:prstGeom>
          <a:solidFill>
            <a:srgbClr val="14A8A8"/>
          </a:solidFill>
          <a:ln w="12700">
            <a:solidFill>
              <a:srgbClr val="14A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Question: What methods exist for evaluating health AI systems in real-world deployment contexts, and how do governance structures shape their implementation, sustainability, and societal impact?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github.com/Arkoys/ai-health-lit-review  ·  2026-04-13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Health Literature Review — Midterm Presentation</dc:title>
  <dc:subject>PptxGenJS Presentation</dc:subject>
  <dc:creator>Arkoys</dc:creator>
  <cp:lastModifiedBy>Arkoys</cp:lastModifiedBy>
  <cp:revision>1</cp:revision>
  <dcterms:created xsi:type="dcterms:W3CDTF">2026-04-13T23:49:26Z</dcterms:created>
  <dcterms:modified xsi:type="dcterms:W3CDTF">2026-04-13T23:49:26Z</dcterms:modified>
</cp:coreProperties>
</file>